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2918400" cy="23042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7D5B5B0-5304-447B-98EE-B6954E90C9A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BFF"/>
    <a:srgbClr val="A4C2F4"/>
    <a:srgbClr val="95C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98B7E-556C-4A03-9BA9-544ECAD5A4A6}" v="273" dt="2025-05-04T17:11:53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150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771088"/>
            <a:ext cx="27980640" cy="8022226"/>
          </a:xfrm>
        </p:spPr>
        <p:txBody>
          <a:bodyPr anchor="b"/>
          <a:lstStyle>
            <a:lvl1pPr algn="ctr">
              <a:defRPr sz="20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2102681"/>
            <a:ext cx="24688800" cy="5563284"/>
          </a:xfrm>
        </p:spPr>
        <p:txBody>
          <a:bodyPr/>
          <a:lstStyle>
            <a:lvl1pPr marL="0" indent="0" algn="ctr">
              <a:buNone/>
              <a:defRPr sz="8064"/>
            </a:lvl1pPr>
            <a:lvl2pPr marL="1536192" indent="0" algn="ctr">
              <a:buNone/>
              <a:defRPr sz="6720"/>
            </a:lvl2pPr>
            <a:lvl3pPr marL="3072384" indent="0" algn="ctr">
              <a:buNone/>
              <a:defRPr sz="6048"/>
            </a:lvl3pPr>
            <a:lvl4pPr marL="4608576" indent="0" algn="ctr">
              <a:buNone/>
              <a:defRPr sz="5376"/>
            </a:lvl4pPr>
            <a:lvl5pPr marL="6144768" indent="0" algn="ctr">
              <a:buNone/>
              <a:defRPr sz="5376"/>
            </a:lvl5pPr>
            <a:lvl6pPr marL="7680960" indent="0" algn="ctr">
              <a:buNone/>
              <a:defRPr sz="5376"/>
            </a:lvl6pPr>
            <a:lvl7pPr marL="9217152" indent="0" algn="ctr">
              <a:buNone/>
              <a:defRPr sz="5376"/>
            </a:lvl7pPr>
            <a:lvl8pPr marL="10753344" indent="0" algn="ctr">
              <a:buNone/>
              <a:defRPr sz="5376"/>
            </a:lvl8pPr>
            <a:lvl9pPr marL="12289536" indent="0" algn="ctr">
              <a:buNone/>
              <a:defRPr sz="53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744646"/>
            <a:ext cx="28392120" cy="9585064"/>
          </a:xfrm>
        </p:spPr>
        <p:txBody>
          <a:bodyPr anchor="b"/>
          <a:lstStyle>
            <a:lvl1pPr>
              <a:defRPr sz="20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5420389"/>
            <a:ext cx="28392120" cy="5040559"/>
          </a:xfrm>
        </p:spPr>
        <p:txBody>
          <a:bodyPr/>
          <a:lstStyle>
            <a:lvl1pPr marL="0" indent="0">
              <a:buNone/>
              <a:defRPr sz="8064">
                <a:solidFill>
                  <a:schemeClr val="tx1">
                    <a:tint val="82000"/>
                  </a:schemeClr>
                </a:solidFill>
              </a:defRPr>
            </a:lvl1pPr>
            <a:lvl2pPr marL="1536192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2pPr>
            <a:lvl3pPr marL="3072384" indent="0">
              <a:buNone/>
              <a:defRPr sz="6048">
                <a:solidFill>
                  <a:schemeClr val="tx1">
                    <a:tint val="82000"/>
                  </a:schemeClr>
                </a:solidFill>
              </a:defRPr>
            </a:lvl3pPr>
            <a:lvl4pPr marL="4608576" indent="0">
              <a:buNone/>
              <a:defRPr sz="5376">
                <a:solidFill>
                  <a:schemeClr val="tx1">
                    <a:tint val="82000"/>
                  </a:schemeClr>
                </a:solidFill>
              </a:defRPr>
            </a:lvl4pPr>
            <a:lvl5pPr marL="6144768" indent="0">
              <a:buNone/>
              <a:defRPr sz="5376">
                <a:solidFill>
                  <a:schemeClr val="tx1">
                    <a:tint val="82000"/>
                  </a:schemeClr>
                </a:solidFill>
              </a:defRPr>
            </a:lvl5pPr>
            <a:lvl6pPr marL="7680960" indent="0">
              <a:buNone/>
              <a:defRPr sz="5376">
                <a:solidFill>
                  <a:schemeClr val="tx1">
                    <a:tint val="82000"/>
                  </a:schemeClr>
                </a:solidFill>
              </a:defRPr>
            </a:lvl6pPr>
            <a:lvl7pPr marL="9217152" indent="0">
              <a:buNone/>
              <a:defRPr sz="5376">
                <a:solidFill>
                  <a:schemeClr val="tx1">
                    <a:tint val="82000"/>
                  </a:schemeClr>
                </a:solidFill>
              </a:defRPr>
            </a:lvl7pPr>
            <a:lvl8pPr marL="10753344" indent="0">
              <a:buNone/>
              <a:defRPr sz="5376">
                <a:solidFill>
                  <a:schemeClr val="tx1">
                    <a:tint val="82000"/>
                  </a:schemeClr>
                </a:solidFill>
              </a:defRPr>
            </a:lvl8pPr>
            <a:lvl9pPr marL="12289536" indent="0">
              <a:buNone/>
              <a:defRPr sz="53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48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6134015"/>
            <a:ext cx="13990320" cy="146202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6134015"/>
            <a:ext cx="13990320" cy="146202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226808"/>
            <a:ext cx="28392120" cy="4453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648630"/>
            <a:ext cx="13926024" cy="2768306"/>
          </a:xfrm>
        </p:spPr>
        <p:txBody>
          <a:bodyPr anchor="b"/>
          <a:lstStyle>
            <a:lvl1pPr marL="0" indent="0">
              <a:buNone/>
              <a:defRPr sz="8064" b="1"/>
            </a:lvl1pPr>
            <a:lvl2pPr marL="1536192" indent="0">
              <a:buNone/>
              <a:defRPr sz="6720" b="1"/>
            </a:lvl2pPr>
            <a:lvl3pPr marL="3072384" indent="0">
              <a:buNone/>
              <a:defRPr sz="6048" b="1"/>
            </a:lvl3pPr>
            <a:lvl4pPr marL="4608576" indent="0">
              <a:buNone/>
              <a:defRPr sz="5376" b="1"/>
            </a:lvl4pPr>
            <a:lvl5pPr marL="6144768" indent="0">
              <a:buNone/>
              <a:defRPr sz="5376" b="1"/>
            </a:lvl5pPr>
            <a:lvl6pPr marL="7680960" indent="0">
              <a:buNone/>
              <a:defRPr sz="5376" b="1"/>
            </a:lvl6pPr>
            <a:lvl7pPr marL="9217152" indent="0">
              <a:buNone/>
              <a:defRPr sz="5376" b="1"/>
            </a:lvl7pPr>
            <a:lvl8pPr marL="10753344" indent="0">
              <a:buNone/>
              <a:defRPr sz="5376" b="1"/>
            </a:lvl8pPr>
            <a:lvl9pPr marL="12289536" indent="0">
              <a:buNone/>
              <a:defRPr sz="53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416936"/>
            <a:ext cx="13926024" cy="12380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648630"/>
            <a:ext cx="13994608" cy="2768306"/>
          </a:xfrm>
        </p:spPr>
        <p:txBody>
          <a:bodyPr anchor="b"/>
          <a:lstStyle>
            <a:lvl1pPr marL="0" indent="0">
              <a:buNone/>
              <a:defRPr sz="8064" b="1"/>
            </a:lvl1pPr>
            <a:lvl2pPr marL="1536192" indent="0">
              <a:buNone/>
              <a:defRPr sz="6720" b="1"/>
            </a:lvl2pPr>
            <a:lvl3pPr marL="3072384" indent="0">
              <a:buNone/>
              <a:defRPr sz="6048" b="1"/>
            </a:lvl3pPr>
            <a:lvl4pPr marL="4608576" indent="0">
              <a:buNone/>
              <a:defRPr sz="5376" b="1"/>
            </a:lvl4pPr>
            <a:lvl5pPr marL="6144768" indent="0">
              <a:buNone/>
              <a:defRPr sz="5376" b="1"/>
            </a:lvl5pPr>
            <a:lvl6pPr marL="7680960" indent="0">
              <a:buNone/>
              <a:defRPr sz="5376" b="1"/>
            </a:lvl6pPr>
            <a:lvl7pPr marL="9217152" indent="0">
              <a:buNone/>
              <a:defRPr sz="5376" b="1"/>
            </a:lvl7pPr>
            <a:lvl8pPr marL="10753344" indent="0">
              <a:buNone/>
              <a:defRPr sz="5376" b="1"/>
            </a:lvl8pPr>
            <a:lvl9pPr marL="12289536" indent="0">
              <a:buNone/>
              <a:defRPr sz="53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416936"/>
            <a:ext cx="13994608" cy="12380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52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5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5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536171"/>
            <a:ext cx="10617041" cy="5376598"/>
          </a:xfrm>
        </p:spPr>
        <p:txBody>
          <a:bodyPr anchor="b"/>
          <a:lstStyle>
            <a:lvl1pPr>
              <a:defRPr sz="107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317707"/>
            <a:ext cx="16664940" cy="16375155"/>
          </a:xfrm>
        </p:spPr>
        <p:txBody>
          <a:bodyPr/>
          <a:lstStyle>
            <a:lvl1pPr>
              <a:defRPr sz="10752"/>
            </a:lvl1pPr>
            <a:lvl2pPr>
              <a:defRPr sz="9408"/>
            </a:lvl2pPr>
            <a:lvl3pPr>
              <a:defRPr sz="8064"/>
            </a:lvl3pPr>
            <a:lvl4pPr>
              <a:defRPr sz="6720"/>
            </a:lvl4pPr>
            <a:lvl5pPr>
              <a:defRPr sz="6720"/>
            </a:lvl5pPr>
            <a:lvl6pPr>
              <a:defRPr sz="6720"/>
            </a:lvl6pPr>
            <a:lvl7pPr>
              <a:defRPr sz="6720"/>
            </a:lvl7pPr>
            <a:lvl8pPr>
              <a:defRPr sz="6720"/>
            </a:lvl8pPr>
            <a:lvl9pPr>
              <a:defRPr sz="6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912769"/>
            <a:ext cx="10617041" cy="12806759"/>
          </a:xfrm>
        </p:spPr>
        <p:txBody>
          <a:bodyPr/>
          <a:lstStyle>
            <a:lvl1pPr marL="0" indent="0">
              <a:buNone/>
              <a:defRPr sz="5376"/>
            </a:lvl1pPr>
            <a:lvl2pPr marL="1536192" indent="0">
              <a:buNone/>
              <a:defRPr sz="4704"/>
            </a:lvl2pPr>
            <a:lvl3pPr marL="3072384" indent="0">
              <a:buNone/>
              <a:defRPr sz="4032"/>
            </a:lvl3pPr>
            <a:lvl4pPr marL="4608576" indent="0">
              <a:buNone/>
              <a:defRPr sz="3360"/>
            </a:lvl4pPr>
            <a:lvl5pPr marL="6144768" indent="0">
              <a:buNone/>
              <a:defRPr sz="3360"/>
            </a:lvl5pPr>
            <a:lvl6pPr marL="7680960" indent="0">
              <a:buNone/>
              <a:defRPr sz="3360"/>
            </a:lvl6pPr>
            <a:lvl7pPr marL="9217152" indent="0">
              <a:buNone/>
              <a:defRPr sz="3360"/>
            </a:lvl7pPr>
            <a:lvl8pPr marL="10753344" indent="0">
              <a:buNone/>
              <a:defRPr sz="3360"/>
            </a:lvl8pPr>
            <a:lvl9pPr marL="12289536" indent="0">
              <a:buNone/>
              <a:defRPr sz="3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7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536171"/>
            <a:ext cx="10617041" cy="5376598"/>
          </a:xfrm>
        </p:spPr>
        <p:txBody>
          <a:bodyPr anchor="b"/>
          <a:lstStyle>
            <a:lvl1pPr>
              <a:defRPr sz="107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317707"/>
            <a:ext cx="16664940" cy="16375155"/>
          </a:xfrm>
        </p:spPr>
        <p:txBody>
          <a:bodyPr anchor="t"/>
          <a:lstStyle>
            <a:lvl1pPr marL="0" indent="0">
              <a:buNone/>
              <a:defRPr sz="10752"/>
            </a:lvl1pPr>
            <a:lvl2pPr marL="1536192" indent="0">
              <a:buNone/>
              <a:defRPr sz="9408"/>
            </a:lvl2pPr>
            <a:lvl3pPr marL="3072384" indent="0">
              <a:buNone/>
              <a:defRPr sz="8064"/>
            </a:lvl3pPr>
            <a:lvl4pPr marL="4608576" indent="0">
              <a:buNone/>
              <a:defRPr sz="6720"/>
            </a:lvl4pPr>
            <a:lvl5pPr marL="6144768" indent="0">
              <a:buNone/>
              <a:defRPr sz="6720"/>
            </a:lvl5pPr>
            <a:lvl6pPr marL="7680960" indent="0">
              <a:buNone/>
              <a:defRPr sz="6720"/>
            </a:lvl6pPr>
            <a:lvl7pPr marL="9217152" indent="0">
              <a:buNone/>
              <a:defRPr sz="6720"/>
            </a:lvl7pPr>
            <a:lvl8pPr marL="10753344" indent="0">
              <a:buNone/>
              <a:defRPr sz="6720"/>
            </a:lvl8pPr>
            <a:lvl9pPr marL="12289536" indent="0">
              <a:buNone/>
              <a:defRPr sz="67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912769"/>
            <a:ext cx="10617041" cy="12806759"/>
          </a:xfrm>
        </p:spPr>
        <p:txBody>
          <a:bodyPr/>
          <a:lstStyle>
            <a:lvl1pPr marL="0" indent="0">
              <a:buNone/>
              <a:defRPr sz="5376"/>
            </a:lvl1pPr>
            <a:lvl2pPr marL="1536192" indent="0">
              <a:buNone/>
              <a:defRPr sz="4704"/>
            </a:lvl2pPr>
            <a:lvl3pPr marL="3072384" indent="0">
              <a:buNone/>
              <a:defRPr sz="4032"/>
            </a:lvl3pPr>
            <a:lvl4pPr marL="4608576" indent="0">
              <a:buNone/>
              <a:defRPr sz="3360"/>
            </a:lvl4pPr>
            <a:lvl5pPr marL="6144768" indent="0">
              <a:buNone/>
              <a:defRPr sz="3360"/>
            </a:lvl5pPr>
            <a:lvl6pPr marL="7680960" indent="0">
              <a:buNone/>
              <a:defRPr sz="3360"/>
            </a:lvl6pPr>
            <a:lvl7pPr marL="9217152" indent="0">
              <a:buNone/>
              <a:defRPr sz="3360"/>
            </a:lvl7pPr>
            <a:lvl8pPr marL="10753344" indent="0">
              <a:buNone/>
              <a:defRPr sz="3360"/>
            </a:lvl8pPr>
            <a:lvl9pPr marL="12289536" indent="0">
              <a:buNone/>
              <a:defRPr sz="3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8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226803"/>
            <a:ext cx="7098030" cy="195275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226803"/>
            <a:ext cx="20882610" cy="195275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2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226808"/>
            <a:ext cx="28392120" cy="4453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6134015"/>
            <a:ext cx="28392120" cy="14620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1357047"/>
            <a:ext cx="7406640" cy="1226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1357047"/>
            <a:ext cx="11109960" cy="1226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1357047"/>
            <a:ext cx="7406640" cy="1226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8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72384" rtl="0" eaLnBrk="1" latinLnBrk="0" hangingPunct="1">
        <a:lnSpc>
          <a:spcPct val="90000"/>
        </a:lnSpc>
        <a:spcBef>
          <a:spcPct val="0"/>
        </a:spcBef>
        <a:buNone/>
        <a:defRPr sz="147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8096" indent="-768096" algn="l" defTabSz="3072384" rtl="0" eaLnBrk="1" latinLnBrk="0" hangingPunct="1">
        <a:lnSpc>
          <a:spcPct val="90000"/>
        </a:lnSpc>
        <a:spcBef>
          <a:spcPts val="3360"/>
        </a:spcBef>
        <a:buFont typeface="Arial" panose="020B0604020202020204" pitchFamily="34" charset="0"/>
        <a:buChar char="•"/>
        <a:defRPr sz="9408" kern="1200">
          <a:solidFill>
            <a:schemeClr val="tx1"/>
          </a:solidFill>
          <a:latin typeface="+mn-lt"/>
          <a:ea typeface="+mn-ea"/>
          <a:cs typeface="+mn-cs"/>
        </a:defRPr>
      </a:lvl1pPr>
      <a:lvl2pPr marL="2304288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8064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3pPr>
      <a:lvl4pPr marL="5376672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4pPr>
      <a:lvl5pPr marL="6912864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5pPr>
      <a:lvl6pPr marL="8449056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6pPr>
      <a:lvl7pPr marL="9985248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8pPr>
      <a:lvl9pPr marL="13057632" indent="-768096" algn="l" defTabSz="3072384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1pPr>
      <a:lvl2pPr marL="1536192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2pPr>
      <a:lvl3pPr marL="3072384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3pPr>
      <a:lvl4pPr marL="4608576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4pPr>
      <a:lvl5pPr marL="6144768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5pPr>
      <a:lvl6pPr marL="7680960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6pPr>
      <a:lvl7pPr marL="9217152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7pPr>
      <a:lvl8pPr marL="10753344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8pPr>
      <a:lvl9pPr marL="12289536" algn="l" defTabSz="3072384" rtl="0" eaLnBrk="1" latinLnBrk="0" hangingPunct="1">
        <a:defRPr sz="60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C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Box 1031">
            <a:extLst>
              <a:ext uri="{FF2B5EF4-FFF2-40B4-BE49-F238E27FC236}">
                <a16:creationId xmlns:a16="http://schemas.microsoft.com/office/drawing/2014/main" id="{1B68BC7F-E9B5-97CD-3178-99C17341426D}"/>
              </a:ext>
            </a:extLst>
          </p:cNvPr>
          <p:cNvSpPr txBox="1"/>
          <p:nvPr/>
        </p:nvSpPr>
        <p:spPr>
          <a:xfrm>
            <a:off x="11652877" y="2932567"/>
            <a:ext cx="9601200" cy="7383742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We created most comprehensive model in the literature</a:t>
            </a:r>
            <a:r>
              <a:rPr lang="en-US" sz="3000" i="1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1</a:t>
            </a:r>
            <a:endParaRPr lang="en-US" sz="3000" i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Previous models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7-18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have systematic biases in model radii -&gt; </a:t>
            </a: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literature inferred compositions biased</a:t>
            </a: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Bias comparable to observational errors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19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, PLATO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20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will bring observational errors further down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New model uses most up-to-date Equations of State</a:t>
            </a: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H/He: Non-ideal mixing, new simulation results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21-23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Water: 12+ phases, high P simulations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24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Mantle: Mixing, melting, high P phases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25-32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Core: Light element, better high P extrapolation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33-37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Additional corrections: Radiative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transfer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38-39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, i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nternal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luminosity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40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, transit geometry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41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, rotation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42-43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Extremely high accuracy solar system replication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1,44-45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Net effect: Cold planets denser, hot planets less dense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Mass-Radius curves generated; available online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527BD-CD8F-EEE0-37D5-060E4A79EFBA}"/>
              </a:ext>
            </a:extLst>
          </p:cNvPr>
          <p:cNvSpPr txBox="1"/>
          <p:nvPr/>
        </p:nvSpPr>
        <p:spPr>
          <a:xfrm>
            <a:off x="6209298" y="303800"/>
            <a:ext cx="20488355" cy="914654"/>
          </a:xfrm>
          <a:prstGeom prst="rect">
            <a:avLst/>
          </a:prstGeom>
          <a:solidFill>
            <a:srgbClr val="E1EBFF"/>
          </a:solidFill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2369" tIns="26184" rIns="52369" bIns="2618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600" dirty="0">
                <a:latin typeface="Merriweather" panose="00000500000000000000" pitchFamily="2" charset="0"/>
              </a:rPr>
              <a:t>Inferring Planet Compositions Using Statistical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E64BD-76E7-4EE7-A3A4-0DC4FA19109C}"/>
              </a:ext>
            </a:extLst>
          </p:cNvPr>
          <p:cNvSpPr txBox="1"/>
          <p:nvPr/>
        </p:nvSpPr>
        <p:spPr>
          <a:xfrm>
            <a:off x="10917623" y="1213258"/>
            <a:ext cx="11092403" cy="606877"/>
          </a:xfrm>
          <a:prstGeom prst="rect">
            <a:avLst/>
          </a:prstGeom>
          <a:solidFill>
            <a:srgbClr val="E1EBFF"/>
          </a:solidFill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2369" tIns="26184" rIns="52369" bIns="2618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Roboto"/>
                <a:ea typeface="Roboto"/>
                <a:cs typeface="Roboto"/>
              </a:rPr>
              <a:t>Bennett Neil Skinner</a:t>
            </a:r>
            <a:r>
              <a:rPr lang="en-US" sz="3600" dirty="0">
                <a:latin typeface="Roboto"/>
                <a:ea typeface="Roboto"/>
                <a:cs typeface="Roboto"/>
              </a:rPr>
              <a:t>, Ralph Pudritz, and Ryan Cloutier</a:t>
            </a: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7CDCBA-BC6C-891A-F292-A7AAE183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6377" y="212437"/>
            <a:ext cx="2560319" cy="135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92860EF-20E2-35F8-E82B-3041DC4F3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0165" y="127534"/>
            <a:ext cx="1955487" cy="260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52163E-62B8-A613-5763-A020839A270B}"/>
              </a:ext>
            </a:extLst>
          </p:cNvPr>
          <p:cNvSpPr txBox="1"/>
          <p:nvPr/>
        </p:nvSpPr>
        <p:spPr>
          <a:xfrm>
            <a:off x="27606432" y="1579888"/>
            <a:ext cx="2843733" cy="410638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rtl="0"/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skinnb1@mcmaster.ca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7FB8D0-6A0B-2612-0D26-0FC9DD5022A3}"/>
              </a:ext>
            </a:extLst>
          </p:cNvPr>
          <p:cNvSpPr txBox="1"/>
          <p:nvPr/>
        </p:nvSpPr>
        <p:spPr>
          <a:xfrm>
            <a:off x="14946253" y="20017297"/>
            <a:ext cx="2513829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References</a:t>
            </a:r>
            <a:endParaRPr lang="en-US" sz="355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862322-9D08-636E-254C-DFABA15D7727}"/>
              </a:ext>
            </a:extLst>
          </p:cNvPr>
          <p:cNvSpPr txBox="1"/>
          <p:nvPr/>
        </p:nvSpPr>
        <p:spPr>
          <a:xfrm>
            <a:off x="11402568" y="20656062"/>
            <a:ext cx="9601200" cy="2238422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numCol="2" rtlCol="0">
            <a:noAutofit/>
          </a:bodyPr>
          <a:lstStyle/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Skinner, Bennett Neil, Ralph E. Pudritz, and Ryan Cloutier (Apr. 2026). “A Validated Low-to-Intermediate Mass Planetary Interior Structure Model and New Mass-Radius Relations”. In Press. In: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e-prints, arXiv:2604.15304, arXiv:2604.15304.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10.48550/arXiv.2604.15304.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2604.15304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Fulton, Benjamin J. et al. (Sept. 2017). “The California-Kepler Survey. III. A Gap in the Radius Distribution of Small Planets”. In: 154.3, 109, p. 109.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10.3847/1538-3881/aa80eb.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1703.10375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Cloutier, Ryan and Kristen Menou (May 2020). “Evolution of the Radius Valley around Low-mass Stars from Kepler and K2”. In: 159.5, 211, p. 211.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10.3847/1538-3881/ab8237.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1912.02170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 Gillis, Erik Diego, Ryan Cloutier, and Emily K. Pass (May 2026). “TESS Planet Occurrence Rates Reveal the Disappearance of the Radius Valley around Mid-to-late M Dwarfs”. In: 171.5, 317, p. 317.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10.3847/1538- 3881/ae5810.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2602.23364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 Owen, James E. and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Yanqin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Wu (Oct. 2013). “Kepler Planets: A Tale of Evaporation”. In: 775.2, 105, p. 105.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10.1088/0004-637X/775/2/105. arXiv:1303.3899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6. Venturini, J. et al. (June 2024). “A fading radius valley towards M dwarfs, a persistent density valley across stellar types”. In: 686, L9, p. L9.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10.1051/0004-6361/202349088.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2404.01967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7. Haldemann, Jonas et al. (Jan. 2024). “BICEPS: An improved characterization model for low- and intermediate-mass exoplanets”. In: 681, A96, A96.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10.1051/0004-6361/202346965.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8. Huang,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Chenliang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David R. Rice, and Jason H. Steffen (July 2022). “MAGRATHEA: an open-source spherical symmetric planet interior structure code”. In: 513.4, pp. 5256–5269.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1093 /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mnras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/ stac1133.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2201.03094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Plotnykov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Mykhaylo and Diana Valencia (Nov. 2020). “Chemical fingerprints of formation in rocky super-Earths’ data”. In: 499.1, pp. 932–947.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 1093/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mnras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/staa2615.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2010.06480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10. — (May 2024). “Observation uncertainty effects on the precision of interior planetary parameters”. In: 530.3, pp. 3488–3499.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10.1093/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mnras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/stae993.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2405.03860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11. Rice, David R. et al. (June 2025). “Uncertainties in the Inference of Internal Structure: The Case of TRAPPIST-1 f”. In: 986.1, 2, p. 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10.3847/1538-4357/add34b.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2504.16201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12. Seager, S. et al. (Nov. 2007). “Mass-Radius Relationships for Solid Exoplanets”. In: 669.2, pp. 1279–1297.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1086 / 521346.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0707 . 2895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13. Sotin, C., O. Grasset, and A.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Mocquet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(Nov. 2007). “Mass radius curve for extrasolar Earth-like planets and ocean planets”. In: 191.1, pp. 337–351.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10.1016/j.icarus.2007.04.006.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14. Unterborn, C. T. et al. (Feb. 2023). “The Nominal Ranges of Rocky Planet Masses, Radii, Surface Gravities, and Bulk Densities”. In: 944.1, 42, p. 42.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10.3847/1538-4357/acaa3b.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2212.03934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15. Valencia, Diana, Dimitar D.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Sasselov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Richard J. O’Connell (Aug. 2007). “Detailed Models of Super-Earths: How Well Can We Infer Bulk Properties?” In: 665.2, pp. 1413–1420.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10.1086/519554.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0704.3454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16. Zeng, Li, Stein B. Jacobsen, et al. (May 2019). “Growth model interpretation of planet size distribution”. In: Proceedings of the National Academy of Science 116.20, pp. 9723–9728.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10.1073/pnas.1812905116.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1906.04253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17. Zeng, Li and Dimitar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Sasselov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(Mar. 2013). “A Detailed Model Grid for Solid Planets from 0.1 through 100 Earth Masses”. In: 125.925, p. 227.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10.1086/669163.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1301.0818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18. Zeng, Li, Dimitar D.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Sasselov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Stein B. Jacobsen (Mar. 2016). “Mass-Radius Relation for Rocky Planets Based on PREM”. In: 819.2, 127, p. 127.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10.3847/0004-637X/819/2/127.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1512.08827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19. Christiansen, J. L. et al. (Aug. 2025). “The NASA Exoplanet Archive and Exoplanet Follow-up Observing Program: Data, Tools, and Usage”. In: 6.8, 186, p. 186.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10.3847/PSJ/ade3c2.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2506.03299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20. Rauer, Heike et al. (June 2025). “The PLATO mission”. In: Experimental Astronomy 59.3, 26, p. 26.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1007 / s10686 - 025 - 09985 - 9. arXiv:2406.05447 [astro-ph.IM].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21. Chabrier, G., S.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Mazevet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F.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Soubiran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(Feb. 2019). “A New Equation of State for Dense Hydrogen-Helium Mixtures”. In: 872.1, 51, p. 51.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 3847/1538-4357/aaf99f.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1902.01852 [astro-ph.SR].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22. Chabrier, Gilles and Florian Debras (Aug. 2021). “A New Equation of State for Dense Hydrogen-Helium Mixtures. II. Taking into Account Hydrogen-Helium Interactions”. In: 917.1, 4, p. 4.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10.3847/1538-4357/abfc48.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2107.04434 [astro-ph.SR].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23. Howard, S. and T. Guillot (Apr. 2023). “Accounting for non-ideal mixing effects in the hydrogen-helium equation of state”. In: 672, L1, p. L1.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10.1051/0004-6361/202244851.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2302.07902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24. Haldemann, Jonas, Yann Alibert, et al. (Nov. 2020). “AQUA: a collection of H2O equations of state for planetary models”. In: 643, A105, A105.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0.1051/0004-6361/202038367.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2009.10098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25. Dong, J. et al. (Apr. 2025). “Structure and Melting of Fe, MgO, SiO2, and MgSiO3 in Planets: Database, Inversion, and Phase Diagram”. In: 6.4, 103, p. 103.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10.3847/PSJ/adc717.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2503.21734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26. Greenberg, E. et al. (June 2023). “Phase transitions and spin state of iron in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FeO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under the conditions of Earth’s deep interior”. In: 107.24, L241103, p. L241103.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1103 /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PhysRevB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. 107 . L241103.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2004 . 00652 [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mat.str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-el].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27. Musella, R., S.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Mazevet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F. Guyot (Feb. 2019). “Physical properties of MgO at deep planetary conditions”. In: 99.6, 064110, p. 064110.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10.1103/PhysRevB.99.064110.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1805.12439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28.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Stixrude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Lars and Carolina Lithgow-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Bertelloni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(June 2024). “Thermodynamics of mantle minerals - III: the role of iron”. In: Geophysical Journal International 237.3, pp. 1699–1733.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10.1093/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gji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/ggae126.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29. Tsuchiya, Taku and Jun Tsuchiya (Jan. 2011). “Prediction of a hexagonal SiO2 phase affecting stabilities of MgSiO3 and CaSiO3 at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multimegabar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pressures”. In: Proceedings of the National Academy of Science 108.4, pp. 1252–1255.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10.1073/pnas.1013594108.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30. Faik, Steffen, Anna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Tauschwitz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Igor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Iosilevskiy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(June 2018). “The equation of state package FEOS for high energy density matter”. In: Computer Physics Communications 227, pp. 117–125.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10.1016/j.cpc.2018.01.008.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31. Fischer, Rebecca A. et al. (Apr. 2011). “Equation of state and phase diagram of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FeO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”. In: Earth and Planetary Science Letters 304.3-4, pp. 496–502. doi:10.1016/j.epsl.2011.02.025.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Morard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Guillaume et al. (Nov. 2022). “Structural and Electronic Transitions in Liquid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FeO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Under High Pressure”. In: Journal of Geophysical Research (Solid Earth) 127.11, e2022JB025117, e2022JB025117.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10.1029/2022JB025117.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Dorogokupets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P. I. et al. (Mar. 2017). “Thermodynamics and Equations of State of Iron to 350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GPa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6000 K”. In: Scientific Reports 7, 41863, p. 41863.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10.1038/srep41863.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34. Hakim, Kaustubh et al. (Oct. 2018). “A new ab initio equation of state of hcp- Fe and its implication on the interior structure and mass-radius relations of rocky super-Earths”. In: 313, pp. 61–78.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10.1016/j.icarus.2018.05. 005.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1805.10530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35. Ichikawa, Hiroki and Taku Tsuchiya (Jan. 2020). “Ab Initio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Thermoelasticity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Liquid Iron-Nickel-Light Element Alloys”. In: Minerals 10.1, 59, p. 59.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10.3390/min10010059.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Kuwayama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Yasuhiro et al. (Apr. 2020). “Equation of State of Liquid Iron under Extreme Conditions”. In: 124.16, 165701, p. 165701.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1103 / PhysRevLett.124.165701.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37. Fei,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Yingwei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et al. (July 2016). “Thermal equation of state of hcp-iron: Constraint on the density deficit of Earth’s solid inner core”. In: 43.13, pp. 6837–6843.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10.1002/2016GL069456.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38. Parmentier, Vivien and Tristan Guillot (Feb. 2014). “A non-grey analytical model for irradiated atmospheres. I. Derivation”. In: 562, A133, A133.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10.1051/0004-6361/201322342.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1311.6597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39. Parmentier, Vivien, Tristan Guillot, et al. (Feb. 2015). “A non-grey analytical model for irradiated atmospheres. II. Analytical vs. numerical solutions”. In: 574, A35, A35.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10.1051/0004-6361/201323127.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1311.6322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Mordasini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C. (June 2020). “Planetary evolution with atmospheric photoevaporation. I. Analytical derivation and numerical study of the evaporation valley and transition from super-Earths to sub-Neptunes”. In: 638, A52, A52.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10.1051/0004-6361/201935541.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2002.02455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41. Guillot, T. (Sept. 2010). “On the radiative equilibrium of irradiated planetary atmospheres”. In: 520, A27, A27.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1051 / 0004 - 6361 / 200913396.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1006.4702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42. Paxton, Bill et al. (Sept. 2013). “Modules for Experiments in Stellar Astrophysics (MESA): Planets, Oscillations, Rotation, and Massive Stars”. In: 208.1, 4, p. 4.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10.1088/0067-0049/208/1/4.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1301.0319 [astro-ph.SR]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44. Paxton, Bill et al. (July 2019). “Modules for Experiments in Stellar Astrophysics (MESA): Pulsating Variable Stars, Rotation, Convective Boundaries, and Energy Conservation”. In: 243.1, 10, p. 10.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3847/1538-4365/ab2241.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1903.01426 [astro-ph.SR].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44. Moulik,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Pritwiraj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G¨oran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Ekstr¨om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(Apr. 2025a). “Radial structure of the Earth: (I) Model concepts and data”. In: Physics of the Earth and Planetary Interiors 361, 107319, p. 107319.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10.1016/j.pepi.2025.107319.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45. — (Apr. 2025b). “Radial structure of the Earth: (II) Model features and interpretations”. In: Physics of the Earth and Planetary Interiors 361, 107320, p. 107320.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10.1016/j.pepi.2025.107320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Piaulet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Caroline et al. (Feb. 2021). “WASP-107b’s Density Is Even Lower: A Case Study for the Physics of Planetary Gas Envelope Accretion and Orbital Migration”. In: 161.2, 70, p. 70.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10.3847/1538-3881/abcd3c.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2011.13444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44. Cadieux, Charles, Bennett Neil Skinner et al. (in prep). “A temperate sub-Neptune transiting the M4 Dwarf TOI-210 identified by NIRPS and TESS: Uncovering hidden M-dwarf planetary systems in the near-infrared.”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45. Rogers, James G. et al. (Jan. 2025). “Most Super-Earths Have Less Than 3% Water”. In: 979.1, 79, p. 79.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 . 3847 / 1538 - 4357 / ad9f61.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2409.17394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46. Brinkman, Casey L. et al. (Aug. 2025). “The Compositions of Rocky Planets in Close-in Orbits Tend to Be Earth-like”. In: 170.2, 109, p. 109.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 3847/1538-3881/ade677.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2410.00213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47. Lee, Rena A. et al. (July 2026). “Revisiting the Exo-Mercury Candidate GJ 367 b with ESPRESSO and a Self-consistent Tidal Distortion Model”. In: 172.1, 39, p. 39.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10.3847/1538-3881/ae6cec.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48.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Weisserman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Drew et al. (May 2026). “Super-Earth masses and stellar abundances from NIRPS reveal tentative evidence for water-rich formation around M dwarfs”. In: 709, A165, A165. doi:10.1051/0004 - 6361 /202558011.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2604.07447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49. Baumeister, Philipp and Nicola Tosi (Aug. 2023). “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ExoMDN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Rapid characterization of exoplanet interior structures with mixture density networks”. In: 676, A106, A106.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10.1051/0004-6361/202346216.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2306.09002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  <a:p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50. Egger, J. A. et al. (Aug. 2024). “Unveiling the internal structure and formation history of the three planets transiting HIP 29442 (TOI-469) with CHEOPS”. In: 688, A223, A223.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10.1051/0004- 6361/202450472.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2406. 18653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b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51. Haldemann, Jonas, Victor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Ksoll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et al. (Apr. 2023). “Exoplanet characterization using conditional invertible neural networks”. In: 672, A180, A180.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10. 1051/0004-6361/202243230. 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arXiv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2202.00027 [astro-</a:t>
            </a:r>
            <a:r>
              <a:rPr lang="en-US" sz="573" baseline="30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ph.EP</a:t>
            </a:r>
            <a:r>
              <a:rPr lang="en-US" sz="573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35845-F245-ABB1-93EE-20E7F590586E}"/>
              </a:ext>
            </a:extLst>
          </p:cNvPr>
          <p:cNvSpPr txBox="1"/>
          <p:nvPr/>
        </p:nvSpPr>
        <p:spPr>
          <a:xfrm>
            <a:off x="24743033" y="2112722"/>
            <a:ext cx="5161991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Applying the New Model</a:t>
            </a:r>
            <a:endParaRPr lang="en-US" sz="355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B090A-DCD8-D8B0-C426-954105D694DB}"/>
              </a:ext>
            </a:extLst>
          </p:cNvPr>
          <p:cNvSpPr txBox="1"/>
          <p:nvPr/>
        </p:nvSpPr>
        <p:spPr>
          <a:xfrm>
            <a:off x="14110528" y="2142093"/>
            <a:ext cx="4685898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A New Forward Model</a:t>
            </a:r>
            <a:endParaRPr lang="en-US" sz="355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13E39D-4AE7-7B11-4CC1-E98921166C0F}"/>
              </a:ext>
            </a:extLst>
          </p:cNvPr>
          <p:cNvSpPr txBox="1"/>
          <p:nvPr/>
        </p:nvSpPr>
        <p:spPr>
          <a:xfrm>
            <a:off x="1127760" y="2882913"/>
            <a:ext cx="9601200" cy="3754125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Observations give planetary masses (M), radii (R), and equilibrium temperatures (T)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 to compare to theory, need </a:t>
            </a:r>
            <a:r>
              <a:rPr lang="en-US" sz="3000" i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compositions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which must be </a:t>
            </a:r>
            <a:r>
              <a:rPr lang="en-US" sz="3000" i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inferred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from observed parameters using an </a:t>
            </a:r>
            <a:r>
              <a:rPr lang="en-US" sz="3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Interior Structure Model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that gives R(M, composition)</a:t>
            </a:r>
            <a:r>
              <a:rPr lang="en-US" sz="32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n-US" sz="3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Convert R(M, T, Composition) -&gt; Composition(M, R, T)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Highly degenerate—over a dozen free composition parameters constrained by just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1240CC-EE4C-7958-5631-64646048ADC6}"/>
              </a:ext>
            </a:extLst>
          </p:cNvPr>
          <p:cNvSpPr txBox="1"/>
          <p:nvPr/>
        </p:nvSpPr>
        <p:spPr>
          <a:xfrm>
            <a:off x="2889126" y="540093"/>
            <a:ext cx="283350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Read the paper in press!</a:t>
            </a:r>
          </a:p>
          <a:p>
            <a:pPr algn="ctr"/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https://arxiv.org/abs/2604.15304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4D637-67C0-BE09-1441-9866BBE5CCF0}"/>
              </a:ext>
            </a:extLst>
          </p:cNvPr>
          <p:cNvSpPr txBox="1"/>
          <p:nvPr/>
        </p:nvSpPr>
        <p:spPr>
          <a:xfrm>
            <a:off x="4567754" y="2112722"/>
            <a:ext cx="2648482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Background</a:t>
            </a:r>
            <a:endParaRPr lang="en-US" sz="355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A196A89E-52CD-DA9E-B8CC-62AD2630AB6C}"/>
              </a:ext>
            </a:extLst>
          </p:cNvPr>
          <p:cNvSpPr txBox="1"/>
          <p:nvPr/>
        </p:nvSpPr>
        <p:spPr>
          <a:xfrm>
            <a:off x="2783602" y="6875896"/>
            <a:ext cx="5884944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The Need For Compositions</a:t>
            </a:r>
            <a:endParaRPr lang="en-US" sz="3551" dirty="0"/>
          </a:p>
        </p:txBody>
      </p:sp>
      <p:pic>
        <p:nvPicPr>
          <p:cNvPr id="1048" name="Picture 1047">
            <a:extLst>
              <a:ext uri="{FF2B5EF4-FFF2-40B4-BE49-F238E27FC236}">
                <a16:creationId xmlns:a16="http://schemas.microsoft.com/office/drawing/2014/main" id="{2236EA34-D634-5378-8E14-A1BF809C65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3192" y="18000552"/>
            <a:ext cx="6091584" cy="4310779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B01CDFF1-96CE-DE53-9B17-CBA916DE7410}"/>
              </a:ext>
            </a:extLst>
          </p:cNvPr>
          <p:cNvSpPr txBox="1"/>
          <p:nvPr/>
        </p:nvSpPr>
        <p:spPr>
          <a:xfrm>
            <a:off x="1127760" y="7717069"/>
            <a:ext cx="9601200" cy="5997154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Planet radii are bimodal around FGK stars, with smaller </a:t>
            </a:r>
            <a:r>
              <a:rPr lang="en-US" sz="3000" i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super-Earths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larger </a:t>
            </a:r>
            <a:r>
              <a:rPr lang="en-US" sz="3000" i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sub-Neptunes</a:t>
            </a:r>
            <a:r>
              <a:rPr lang="en-US" sz="3000" i="1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30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-4</a:t>
            </a:r>
            <a:endParaRPr lang="en-US" sz="3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Two possible differentiating mechanisms: atmospheric mass loss</a:t>
            </a:r>
            <a:r>
              <a:rPr lang="en-US" sz="36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(sub-Neptunes are H/He-enhanced) or water-rich formation</a:t>
            </a:r>
            <a:r>
              <a:rPr lang="en-US" sz="30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(sub-Neptunes are water-enriched)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Sub-Neptunes less prominent around lower-mass stars</a:t>
            </a:r>
            <a:r>
              <a:rPr lang="en-US" sz="30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2-4</a:t>
            </a: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-&gt; Finding their composition reveals planet formation around most common type of star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Sub-Neptunes around M Dwarfs can be closer in -&gt; would have lost atmosphere -&gt; could be water-rich</a:t>
            </a:r>
            <a:r>
              <a:rPr lang="en-US" sz="30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endParaRPr lang="en-US" sz="3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water-rich -&gt; widespread planet migration</a:t>
            </a:r>
            <a:r>
              <a:rPr lang="en-US" sz="3000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endParaRPr lang="en-US" sz="3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049180-6A80-79C5-63CC-65134059558B}"/>
              </a:ext>
            </a:extLst>
          </p:cNvPr>
          <p:cNvCxnSpPr>
            <a:cxnSpLocks/>
          </p:cNvCxnSpPr>
          <p:nvPr/>
        </p:nvCxnSpPr>
        <p:spPr>
          <a:xfrm>
            <a:off x="3889704" y="15838447"/>
            <a:ext cx="366586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8663B1-A7D7-5397-417D-B4CD982291D3}"/>
              </a:ext>
            </a:extLst>
          </p:cNvPr>
          <p:cNvCxnSpPr>
            <a:cxnSpLocks/>
          </p:cNvCxnSpPr>
          <p:nvPr/>
        </p:nvCxnSpPr>
        <p:spPr>
          <a:xfrm flipV="1">
            <a:off x="5726074" y="16160272"/>
            <a:ext cx="0" cy="160956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FC2B87B-B0DA-2030-2CED-F1DDEF8FEF22}"/>
              </a:ext>
            </a:extLst>
          </p:cNvPr>
          <p:cNvSpPr txBox="1"/>
          <p:nvPr/>
        </p:nvSpPr>
        <p:spPr>
          <a:xfrm>
            <a:off x="4459708" y="15798613"/>
            <a:ext cx="2659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Water-Rich Formation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0391EC1-1D10-DC87-76A2-FFA278AF264C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5726074" y="13800214"/>
            <a:ext cx="0" cy="1640093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2B0B964-AC09-A9A0-B355-9601A4DF0733}"/>
              </a:ext>
            </a:extLst>
          </p:cNvPr>
          <p:cNvSpPr txBox="1"/>
          <p:nvPr/>
        </p:nvSpPr>
        <p:spPr>
          <a:xfrm>
            <a:off x="4250349" y="15440307"/>
            <a:ext cx="2951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Atmospheric Mass Loss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5910D007-A187-7E6C-D0CC-B3FA087FC4FC}"/>
              </a:ext>
            </a:extLst>
          </p:cNvPr>
          <p:cNvSpPr txBox="1"/>
          <p:nvPr/>
        </p:nvSpPr>
        <p:spPr>
          <a:xfrm>
            <a:off x="2233768" y="13737107"/>
            <a:ext cx="16498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Super-Earth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24B271D-E79F-B814-16BD-1121A7814EFB}"/>
              </a:ext>
            </a:extLst>
          </p:cNvPr>
          <p:cNvSpPr txBox="1"/>
          <p:nvPr/>
        </p:nvSpPr>
        <p:spPr>
          <a:xfrm>
            <a:off x="7555566" y="13737107"/>
            <a:ext cx="18165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Sub-Neptune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00E32B7-F2F7-990E-6542-CA62A1A55C9F}"/>
              </a:ext>
            </a:extLst>
          </p:cNvPr>
          <p:cNvSpPr txBox="1"/>
          <p:nvPr/>
        </p:nvSpPr>
        <p:spPr>
          <a:xfrm>
            <a:off x="22189442" y="2932568"/>
            <a:ext cx="9601200" cy="3301267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Incorporated into SMINT framework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43-44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Linearly interpolates R from M-composition grid</a:t>
            </a: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Runs MCMC to best retrieve planets’ radius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First application to TOI-210 b (In prep.) makes water-rich composition </a:t>
            </a:r>
            <a:r>
              <a:rPr lang="en-US" sz="30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less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likely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Application to more individual targets forthcoming – email w/ requests to generate grids for specific objects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8F8F2ABC-41E2-7351-FE5D-8D7E8E02B70D}"/>
              </a:ext>
            </a:extLst>
          </p:cNvPr>
          <p:cNvSpPr txBox="1"/>
          <p:nvPr/>
        </p:nvSpPr>
        <p:spPr>
          <a:xfrm>
            <a:off x="2703177" y="22338653"/>
            <a:ext cx="6178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Reproduced from </a:t>
            </a:r>
            <a:r>
              <a:rPr lang="en-US" sz="2000" dirty="0"/>
              <a:t>Gillis, Cloutier, &amp; Pass (2026) Fig. 11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B1A7238E-74BC-C870-EDB3-3ABF3CBF76F7}"/>
              </a:ext>
            </a:extLst>
          </p:cNvPr>
          <p:cNvCxnSpPr>
            <a:cxnSpLocks/>
          </p:cNvCxnSpPr>
          <p:nvPr/>
        </p:nvCxnSpPr>
        <p:spPr>
          <a:xfrm flipH="1">
            <a:off x="5822430" y="19260850"/>
            <a:ext cx="453941" cy="1048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7" name="TextBox 1086">
            <a:extLst>
              <a:ext uri="{FF2B5EF4-FFF2-40B4-BE49-F238E27FC236}">
                <a16:creationId xmlns:a16="http://schemas.microsoft.com/office/drawing/2014/main" id="{4C352C08-0620-0D7F-CB48-5A1454D8D15A}"/>
              </a:ext>
            </a:extLst>
          </p:cNvPr>
          <p:cNvSpPr txBox="1"/>
          <p:nvPr/>
        </p:nvSpPr>
        <p:spPr>
          <a:xfrm rot="17614461">
            <a:off x="5324431" y="19445914"/>
            <a:ext cx="1309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Smaller Hosts</a:t>
            </a:r>
          </a:p>
        </p:txBody>
      </p:sp>
      <p:pic>
        <p:nvPicPr>
          <p:cNvPr id="1089" name="Picture 1088">
            <a:extLst>
              <a:ext uri="{FF2B5EF4-FFF2-40B4-BE49-F238E27FC236}">
                <a16:creationId xmlns:a16="http://schemas.microsoft.com/office/drawing/2014/main" id="{0AD6C30F-75B1-476D-440C-A9CC12D6F5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877" y="10316309"/>
            <a:ext cx="6084727" cy="4756720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5CAC0168-B939-1B53-9233-8CF2FBCF83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2184" y="14975607"/>
            <a:ext cx="6091584" cy="5085443"/>
          </a:xfrm>
          <a:prstGeom prst="rect">
            <a:avLst/>
          </a:prstGeom>
        </p:spPr>
      </p:pic>
      <p:sp>
        <p:nvSpPr>
          <p:cNvPr id="1093" name="TextBox 1092">
            <a:extLst>
              <a:ext uri="{FF2B5EF4-FFF2-40B4-BE49-F238E27FC236}">
                <a16:creationId xmlns:a16="http://schemas.microsoft.com/office/drawing/2014/main" id="{674FD67A-736F-726D-F185-0B5996D3F873}"/>
              </a:ext>
            </a:extLst>
          </p:cNvPr>
          <p:cNvSpPr txBox="1"/>
          <p:nvPr/>
        </p:nvSpPr>
        <p:spPr>
          <a:xfrm>
            <a:off x="17578564" y="12340726"/>
            <a:ext cx="3894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Reproduced from </a:t>
            </a:r>
            <a:r>
              <a:rPr lang="en-US" sz="20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Skinner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Pudritz, &amp; Cloutier (2026) Fig. 8  </a:t>
            </a:r>
          </a:p>
        </p:txBody>
      </p:sp>
      <p:pic>
        <p:nvPicPr>
          <p:cNvPr id="1095" name="Picture 1094">
            <a:extLst>
              <a:ext uri="{FF2B5EF4-FFF2-40B4-BE49-F238E27FC236}">
                <a16:creationId xmlns:a16="http://schemas.microsoft.com/office/drawing/2014/main" id="{AEBB58B8-DB38-5840-1038-003D5F6C5D5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883" t="1241" r="48728" b="71091"/>
          <a:stretch>
            <a:fillRect/>
          </a:stretch>
        </p:blipFill>
        <p:spPr>
          <a:xfrm>
            <a:off x="22177994" y="6318446"/>
            <a:ext cx="2060414" cy="2429364"/>
          </a:xfrm>
          <a:prstGeom prst="rect">
            <a:avLst/>
          </a:prstGeom>
        </p:spPr>
      </p:pic>
      <p:pic>
        <p:nvPicPr>
          <p:cNvPr id="1097" name="Picture 1096">
            <a:extLst>
              <a:ext uri="{FF2B5EF4-FFF2-40B4-BE49-F238E27FC236}">
                <a16:creationId xmlns:a16="http://schemas.microsoft.com/office/drawing/2014/main" id="{7577D6D3-C6C2-65C4-AD83-4B89644A9F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442" t="1245" r="46386" b="70607"/>
          <a:stretch>
            <a:fillRect/>
          </a:stretch>
        </p:blipFill>
        <p:spPr>
          <a:xfrm>
            <a:off x="29835152" y="6409707"/>
            <a:ext cx="2169207" cy="2338103"/>
          </a:xfrm>
          <a:prstGeom prst="rect">
            <a:avLst/>
          </a:prstGeom>
        </p:spPr>
      </p:pic>
      <p:sp>
        <p:nvSpPr>
          <p:cNvPr id="1102" name="TextBox 1101">
            <a:extLst>
              <a:ext uri="{FF2B5EF4-FFF2-40B4-BE49-F238E27FC236}">
                <a16:creationId xmlns:a16="http://schemas.microsoft.com/office/drawing/2014/main" id="{056E3601-AF12-586A-9B11-EE854F2A306F}"/>
              </a:ext>
            </a:extLst>
          </p:cNvPr>
          <p:cNvSpPr txBox="1"/>
          <p:nvPr/>
        </p:nvSpPr>
        <p:spPr>
          <a:xfrm>
            <a:off x="21822128" y="10971435"/>
            <a:ext cx="10356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Reproduced from Cadieux, </a:t>
            </a:r>
            <a:r>
              <a:rPr lang="en-US" sz="20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Skinner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et al. </a:t>
            </a:r>
            <a:r>
              <a:rPr lang="en-US" sz="2000" dirty="0"/>
              <a:t>(In Prep.) Fig. 7 (left previous version, right current) 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4D04C269-A27B-3608-8558-2D3FEB965A0B}"/>
              </a:ext>
            </a:extLst>
          </p:cNvPr>
          <p:cNvSpPr txBox="1"/>
          <p:nvPr/>
        </p:nvSpPr>
        <p:spPr>
          <a:xfrm>
            <a:off x="24837857" y="6709711"/>
            <a:ext cx="44390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Inferred H/He % increased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-&gt; H/He scenario more realistic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DFB5BB26-58F9-BBA3-3382-F7F1CC0FABAE}"/>
              </a:ext>
            </a:extLst>
          </p:cNvPr>
          <p:cNvSpPr txBox="1"/>
          <p:nvPr/>
        </p:nvSpPr>
        <p:spPr>
          <a:xfrm>
            <a:off x="24072487" y="11286376"/>
            <a:ext cx="5846472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Recent Literature Advances</a:t>
            </a:r>
            <a:endParaRPr lang="en-US" sz="3551" dirty="0"/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AFB8FB95-96F3-E730-348A-8AC0B4F9D6E5}"/>
              </a:ext>
            </a:extLst>
          </p:cNvPr>
          <p:cNvSpPr txBox="1"/>
          <p:nvPr/>
        </p:nvSpPr>
        <p:spPr>
          <a:xfrm>
            <a:off x="22192488" y="11968030"/>
            <a:ext cx="9601200" cy="949796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FGK Super-Earths -&gt; Earth-like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45-47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 Dwarf Super-Earths -&gt; Water-rich interiors?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48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endParaRPr>
          </a:p>
        </p:txBody>
      </p:sp>
      <p:pic>
        <p:nvPicPr>
          <p:cNvPr id="1115" name="Picture 1114">
            <a:extLst>
              <a:ext uri="{FF2B5EF4-FFF2-40B4-BE49-F238E27FC236}">
                <a16:creationId xmlns:a16="http://schemas.microsoft.com/office/drawing/2014/main" id="{48BFE402-CC72-2F6C-FEF9-F34D95EE321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23"/>
          <a:stretch>
            <a:fillRect/>
          </a:stretch>
        </p:blipFill>
        <p:spPr>
          <a:xfrm>
            <a:off x="22484862" y="13026694"/>
            <a:ext cx="4157166" cy="3897826"/>
          </a:xfrm>
          <a:prstGeom prst="rect">
            <a:avLst/>
          </a:prstGeom>
        </p:spPr>
      </p:pic>
      <p:pic>
        <p:nvPicPr>
          <p:cNvPr id="1117" name="Picture 1116">
            <a:extLst>
              <a:ext uri="{FF2B5EF4-FFF2-40B4-BE49-F238E27FC236}">
                <a16:creationId xmlns:a16="http://schemas.microsoft.com/office/drawing/2014/main" id="{8BEECAA3-7001-9CAE-73EA-6E6D02891A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02" t="64995"/>
          <a:stretch>
            <a:fillRect/>
          </a:stretch>
        </p:blipFill>
        <p:spPr>
          <a:xfrm>
            <a:off x="26921631" y="13026693"/>
            <a:ext cx="4869008" cy="3899599"/>
          </a:xfrm>
          <a:prstGeom prst="rect">
            <a:avLst/>
          </a:prstGeom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78FB5964-EFA2-FD39-FCC6-EC2D8CAA7322}"/>
              </a:ext>
            </a:extLst>
          </p:cNvPr>
          <p:cNvSpPr txBox="1"/>
          <p:nvPr/>
        </p:nvSpPr>
        <p:spPr>
          <a:xfrm>
            <a:off x="25411108" y="17586961"/>
            <a:ext cx="2690160" cy="63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51" b="1" dirty="0">
                <a:solidFill>
                  <a:srgbClr val="000000"/>
                </a:solidFill>
                <a:latin typeface="Roboto" panose="02000000000000000000" pitchFamily="2" charset="0"/>
              </a:rPr>
              <a:t>Future Work</a:t>
            </a:r>
            <a:endParaRPr lang="en-US" sz="3551" dirty="0"/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B9480E7D-064F-FD59-9009-6F8362D99393}"/>
              </a:ext>
            </a:extLst>
          </p:cNvPr>
          <p:cNvSpPr txBox="1"/>
          <p:nvPr/>
        </p:nvSpPr>
        <p:spPr>
          <a:xfrm>
            <a:off x="22192488" y="18198752"/>
            <a:ext cx="9601200" cy="4694826"/>
          </a:xfrm>
          <a:prstGeom prst="rect">
            <a:avLst/>
          </a:prstGeom>
          <a:solidFill>
            <a:srgbClr val="E1EB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Integrate our state-of-the-art forward model into a robust statistical model, run on a large population</a:t>
            </a: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Investigate FGK v. M Dwarf super-Earth dichotomy</a:t>
            </a:r>
          </a:p>
          <a:p>
            <a:pPr lvl="1"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Conduct first comprehensive sub-Neptune inference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Possible widely-used methods each w/ downsides</a:t>
            </a:r>
            <a:r>
              <a:rPr lang="en-US" sz="30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49-51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: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Interpolation – Inaccurate b/c not directly calculating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MCMC – computationally intensive (~10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cpu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-d/planet)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Machine learning – Long training makes updates hard</a:t>
            </a:r>
          </a:p>
          <a:p>
            <a:pPr indent="132730" fontAlgn="base">
              <a:buFont typeface="Arial" panose="020B0604020202020204" pitchFamily="34" charset="0"/>
              <a:buChar char="•"/>
            </a:pPr>
            <a:r>
              <a:rPr lang="en-US" sz="30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We are in the beginning stages of implementing statistical methods – feedback very welcome!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33FAD986-4766-34DE-6C25-EA2611FFE84F}"/>
              </a:ext>
            </a:extLst>
          </p:cNvPr>
          <p:cNvSpPr txBox="1"/>
          <p:nvPr/>
        </p:nvSpPr>
        <p:spPr>
          <a:xfrm>
            <a:off x="26605697" y="16958156"/>
            <a:ext cx="5342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Reproduced from </a:t>
            </a:r>
          </a:p>
          <a:p>
            <a:pPr algn="ctr"/>
            <a:r>
              <a:rPr lang="en-US" dirty="0" err="1"/>
              <a:t>Weisserman</a:t>
            </a:r>
            <a:r>
              <a:rPr lang="en-US" dirty="0"/>
              <a:t> et al. (2026) Figure 7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2A8A1919-98BE-3ACA-6109-00C42CB9FE54}"/>
              </a:ext>
            </a:extLst>
          </p:cNvPr>
          <p:cNvSpPr txBox="1"/>
          <p:nvPr/>
        </p:nvSpPr>
        <p:spPr>
          <a:xfrm>
            <a:off x="23304444" y="16958156"/>
            <a:ext cx="265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Reproduced from Rogers et al. (2025) Figure 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CBC5F5-39AA-D89B-11B4-D9D485F8E73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5921" t="1245" r="14289" b="70607"/>
          <a:stretch>
            <a:fillRect/>
          </a:stretch>
        </p:blipFill>
        <p:spPr>
          <a:xfrm>
            <a:off x="29835152" y="8812119"/>
            <a:ext cx="2159114" cy="22007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183EC6-C318-F73C-55B5-9689BDD744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167" t="1241" r="14422" b="70540"/>
          <a:stretch>
            <a:fillRect/>
          </a:stretch>
        </p:blipFill>
        <p:spPr>
          <a:xfrm>
            <a:off x="22177994" y="8796176"/>
            <a:ext cx="2070507" cy="222503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4B7078-5D88-B2E6-46B2-0A2F88A5BB4A}"/>
              </a:ext>
            </a:extLst>
          </p:cNvPr>
          <p:cNvSpPr txBox="1"/>
          <p:nvPr/>
        </p:nvSpPr>
        <p:spPr>
          <a:xfrm>
            <a:off x="24911588" y="8997959"/>
            <a:ext cx="41569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Inferred H</a:t>
            </a:r>
            <a:r>
              <a:rPr lang="en-US" sz="2400" baseline="-25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% increased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-&gt; H</a:t>
            </a:r>
            <a:r>
              <a:rPr lang="en-US" sz="2400" baseline="-25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scenario less realistic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92DB6F0-D7F9-1295-8926-37624F30F5C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46" y="303800"/>
            <a:ext cx="2420554" cy="2420554"/>
          </a:xfrm>
          <a:prstGeom prst="rect">
            <a:avLst/>
          </a:prstGeom>
        </p:spPr>
      </p:pic>
      <p:sp>
        <p:nvSpPr>
          <p:cNvPr id="1040" name="TextBox 1039">
            <a:extLst>
              <a:ext uri="{FF2B5EF4-FFF2-40B4-BE49-F238E27FC236}">
                <a16:creationId xmlns:a16="http://schemas.microsoft.com/office/drawing/2014/main" id="{C36F7A42-89E7-E38E-C24A-014D9B8DEC0F}"/>
              </a:ext>
            </a:extLst>
          </p:cNvPr>
          <p:cNvSpPr txBox="1"/>
          <p:nvPr/>
        </p:nvSpPr>
        <p:spPr>
          <a:xfrm>
            <a:off x="11065363" y="17250544"/>
            <a:ext cx="3894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Reproduced from </a:t>
            </a:r>
            <a:r>
              <a:rPr lang="en-US" sz="20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Skinner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Pudritz, &amp; Cloutier (2026) Fig. 4  </a:t>
            </a:r>
          </a:p>
        </p:txBody>
      </p: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329E2BCE-6204-5061-ACEE-1340D4F5F710}"/>
              </a:ext>
            </a:extLst>
          </p:cNvPr>
          <p:cNvCxnSpPr>
            <a:cxnSpLocks/>
            <a:stCxn id="1095" idx="3"/>
            <a:endCxn id="1097" idx="1"/>
          </p:cNvCxnSpPr>
          <p:nvPr/>
        </p:nvCxnSpPr>
        <p:spPr>
          <a:xfrm>
            <a:off x="24238408" y="7533128"/>
            <a:ext cx="5596744" cy="45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7F57CD20-3919-7B96-5187-4EDD1B84F52D}"/>
              </a:ext>
            </a:extLst>
          </p:cNvPr>
          <p:cNvCxnSpPr>
            <a:cxnSpLocks/>
            <a:stCxn id="18" idx="3"/>
            <a:endCxn id="14" idx="1"/>
          </p:cNvCxnSpPr>
          <p:nvPr/>
        </p:nvCxnSpPr>
        <p:spPr>
          <a:xfrm>
            <a:off x="24248501" y="9908693"/>
            <a:ext cx="5586651" cy="3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7" name="Picture 1066">
            <a:extLst>
              <a:ext uri="{FF2B5EF4-FFF2-40B4-BE49-F238E27FC236}">
                <a16:creationId xmlns:a16="http://schemas.microsoft.com/office/drawing/2014/main" id="{A55D3072-F1B3-5FCF-5BAD-A194E7DC79A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069" y="21568079"/>
            <a:ext cx="1325499" cy="1325499"/>
          </a:xfrm>
          <a:prstGeom prst="rect">
            <a:avLst/>
          </a:prstGeom>
        </p:spPr>
      </p:pic>
      <p:sp>
        <p:nvSpPr>
          <p:cNvPr id="1068" name="TextBox 1067">
            <a:extLst>
              <a:ext uri="{FF2B5EF4-FFF2-40B4-BE49-F238E27FC236}">
                <a16:creationId xmlns:a16="http://schemas.microsoft.com/office/drawing/2014/main" id="{441F9C84-D25F-C5AD-DEC5-A03AC02D72E9}"/>
              </a:ext>
            </a:extLst>
          </p:cNvPr>
          <p:cNvSpPr txBox="1"/>
          <p:nvPr/>
        </p:nvSpPr>
        <p:spPr>
          <a:xfrm>
            <a:off x="9843843" y="21044859"/>
            <a:ext cx="1638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 for poster copy &amp; references</a:t>
            </a:r>
          </a:p>
        </p:txBody>
      </p:sp>
      <p:grpSp>
        <p:nvGrpSpPr>
          <p:cNvPr id="1090" name="Group 1089">
            <a:extLst>
              <a:ext uri="{FF2B5EF4-FFF2-40B4-BE49-F238E27FC236}">
                <a16:creationId xmlns:a16="http://schemas.microsoft.com/office/drawing/2014/main" id="{5009C5D4-D4F5-AEC6-62A8-D9E040DFE737}"/>
              </a:ext>
            </a:extLst>
          </p:cNvPr>
          <p:cNvGrpSpPr/>
          <p:nvPr/>
        </p:nvGrpSpPr>
        <p:grpSpPr>
          <a:xfrm>
            <a:off x="1423767" y="13800214"/>
            <a:ext cx="9009186" cy="1672955"/>
            <a:chOff x="1440345" y="13962300"/>
            <a:chExt cx="9009186" cy="167295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8905DE-9CA7-A821-EB43-503AAEDB404E}"/>
                </a:ext>
              </a:extLst>
            </p:cNvPr>
            <p:cNvSpPr txBox="1"/>
            <p:nvPr/>
          </p:nvSpPr>
          <p:spPr>
            <a:xfrm>
              <a:off x="1440345" y="14590067"/>
              <a:ext cx="1872629" cy="312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Has </a:t>
              </a:r>
              <a:r>
                <a:rPr lang="en-US" sz="1432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lost</a:t>
              </a:r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atmosphere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88571AD-08B9-02A3-4D2C-62037B205ED4}"/>
                </a:ext>
              </a:extLst>
            </p:cNvPr>
            <p:cNvSpPr txBox="1"/>
            <p:nvPr/>
          </p:nvSpPr>
          <p:spPr>
            <a:xfrm>
              <a:off x="8224242" y="14602059"/>
              <a:ext cx="2225289" cy="312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Has </a:t>
              </a:r>
              <a:r>
                <a:rPr lang="en-US" sz="1432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retained</a:t>
              </a:r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atmosphere</a:t>
              </a:r>
            </a:p>
          </p:txBody>
        </p:sp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BF1F2AB9-60C9-EB88-6323-26C61C1CD5EC}"/>
                </a:ext>
              </a:extLst>
            </p:cNvPr>
            <p:cNvGrpSpPr/>
            <p:nvPr/>
          </p:nvGrpSpPr>
          <p:grpSpPr>
            <a:xfrm>
              <a:off x="3767371" y="13962300"/>
              <a:ext cx="3923190" cy="1672955"/>
              <a:chOff x="3767371" y="13962300"/>
              <a:chExt cx="3923190" cy="1672955"/>
            </a:xfrm>
          </p:grpSpPr>
          <p:grpSp>
            <p:nvGrpSpPr>
              <p:cNvPr id="1075" name="Group 1074">
                <a:extLst>
                  <a:ext uri="{FF2B5EF4-FFF2-40B4-BE49-F238E27FC236}">
                    <a16:creationId xmlns:a16="http://schemas.microsoft.com/office/drawing/2014/main" id="{220D8A17-3329-B63F-F802-DC7895BB1FB0}"/>
                  </a:ext>
                </a:extLst>
              </p:cNvPr>
              <p:cNvGrpSpPr/>
              <p:nvPr/>
            </p:nvGrpSpPr>
            <p:grpSpPr>
              <a:xfrm>
                <a:off x="6017605" y="13962300"/>
                <a:ext cx="1672956" cy="1672955"/>
                <a:chOff x="7078556" y="14439337"/>
                <a:chExt cx="1672956" cy="1672955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237A4FD-AE17-7A77-202B-8EE0D8768237}"/>
                    </a:ext>
                  </a:extLst>
                </p:cNvPr>
                <p:cNvSpPr/>
                <p:nvPr/>
              </p:nvSpPr>
              <p:spPr>
                <a:xfrm>
                  <a:off x="7078556" y="14439337"/>
                  <a:ext cx="1672956" cy="167295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44"/>
                </a:p>
              </p:txBody>
            </p:sp>
            <p:grpSp>
              <p:nvGrpSpPr>
                <p:cNvPr id="1035" name="Group 1034">
                  <a:extLst>
                    <a:ext uri="{FF2B5EF4-FFF2-40B4-BE49-F238E27FC236}">
                      <a16:creationId xmlns:a16="http://schemas.microsoft.com/office/drawing/2014/main" id="{0AD8C8FE-86A2-374C-13ED-419E2C4E59CB}"/>
                    </a:ext>
                  </a:extLst>
                </p:cNvPr>
                <p:cNvGrpSpPr/>
                <p:nvPr/>
              </p:nvGrpSpPr>
              <p:grpSpPr>
                <a:xfrm>
                  <a:off x="7357382" y="14718163"/>
                  <a:ext cx="1115303" cy="1115303"/>
                  <a:chOff x="7357382" y="14718163"/>
                  <a:chExt cx="1115303" cy="1115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1D153393-4036-7B5F-4858-69BCE20F3682}"/>
                      </a:ext>
                    </a:extLst>
                  </p:cNvPr>
                  <p:cNvSpPr/>
                  <p:nvPr/>
                </p:nvSpPr>
                <p:spPr>
                  <a:xfrm>
                    <a:off x="7357382" y="14718163"/>
                    <a:ext cx="1115303" cy="1115303"/>
                  </a:xfrm>
                  <a:prstGeom prst="ellipse">
                    <a:avLst/>
                  </a:prstGeom>
                  <a:solidFill>
                    <a:schemeClr val="accent3">
                      <a:lumMod val="75000"/>
                    </a:schemeClr>
                  </a:solidFill>
                  <a:ln>
                    <a:solidFill>
                      <a:schemeClr val="accent3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744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3D239364-F382-5783-C195-A8C571F4EE00}"/>
                      </a:ext>
                    </a:extLst>
                  </p:cNvPr>
                  <p:cNvSpPr/>
                  <p:nvPr/>
                </p:nvSpPr>
                <p:spPr>
                  <a:xfrm>
                    <a:off x="7636207" y="14996989"/>
                    <a:ext cx="557653" cy="557652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744"/>
                  </a:p>
                </p:txBody>
              </p:sp>
            </p:grpSp>
          </p:grp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572ECB77-4F69-AA06-D2AF-A0755054D6C0}"/>
                  </a:ext>
                </a:extLst>
              </p:cNvPr>
              <p:cNvGrpSpPr/>
              <p:nvPr/>
            </p:nvGrpSpPr>
            <p:grpSpPr>
              <a:xfrm>
                <a:off x="3767371" y="14244558"/>
                <a:ext cx="1115303" cy="1115303"/>
                <a:chOff x="7357382" y="14718163"/>
                <a:chExt cx="1115303" cy="1115303"/>
              </a:xfrm>
            </p:grpSpPr>
            <p:sp>
              <p:nvSpPr>
                <p:cNvPr id="1070" name="Oval 1069">
                  <a:extLst>
                    <a:ext uri="{FF2B5EF4-FFF2-40B4-BE49-F238E27FC236}">
                      <a16:creationId xmlns:a16="http://schemas.microsoft.com/office/drawing/2014/main" id="{8D3892B2-0FA0-7E42-A28A-4D540200757A}"/>
                    </a:ext>
                  </a:extLst>
                </p:cNvPr>
                <p:cNvSpPr/>
                <p:nvPr/>
              </p:nvSpPr>
              <p:spPr>
                <a:xfrm>
                  <a:off x="7357382" y="14718163"/>
                  <a:ext cx="1115303" cy="1115303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44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071" name="Oval 1070">
                  <a:extLst>
                    <a:ext uri="{FF2B5EF4-FFF2-40B4-BE49-F238E27FC236}">
                      <a16:creationId xmlns:a16="http://schemas.microsoft.com/office/drawing/2014/main" id="{D003A709-60AD-1FB9-38A8-8AAAE49486E7}"/>
                    </a:ext>
                  </a:extLst>
                </p:cNvPr>
                <p:cNvSpPr/>
                <p:nvPr/>
              </p:nvSpPr>
              <p:spPr>
                <a:xfrm>
                  <a:off x="7636207" y="14996989"/>
                  <a:ext cx="557653" cy="557652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44"/>
                </a:p>
              </p:txBody>
            </p:sp>
          </p:grpSp>
        </p:grpSp>
      </p:grpSp>
      <p:grpSp>
        <p:nvGrpSpPr>
          <p:cNvPr id="1092" name="Group 1091">
            <a:extLst>
              <a:ext uri="{FF2B5EF4-FFF2-40B4-BE49-F238E27FC236}">
                <a16:creationId xmlns:a16="http://schemas.microsoft.com/office/drawing/2014/main" id="{6AD86144-E590-68E6-56A7-5861779E7FC8}"/>
              </a:ext>
            </a:extLst>
          </p:cNvPr>
          <p:cNvGrpSpPr/>
          <p:nvPr/>
        </p:nvGrpSpPr>
        <p:grpSpPr>
          <a:xfrm>
            <a:off x="1135891" y="16205695"/>
            <a:ext cx="9512207" cy="1672955"/>
            <a:chOff x="1127760" y="16147559"/>
            <a:chExt cx="9512207" cy="167295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0E1FA5-5DA4-EEF3-102D-B81CB19318B1}"/>
                </a:ext>
              </a:extLst>
            </p:cNvPr>
            <p:cNvSpPr txBox="1"/>
            <p:nvPr/>
          </p:nvSpPr>
          <p:spPr>
            <a:xfrm>
              <a:off x="1127760" y="16758755"/>
              <a:ext cx="2497800" cy="312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Formed mostly </a:t>
              </a:r>
              <a:r>
                <a:rPr lang="en-US" sz="1432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inside</a:t>
              </a:r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iceline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554438F-47F9-96A5-1C4B-11A2B76D02EF}"/>
                </a:ext>
              </a:extLst>
            </p:cNvPr>
            <p:cNvSpPr txBox="1"/>
            <p:nvPr/>
          </p:nvSpPr>
          <p:spPr>
            <a:xfrm>
              <a:off x="8026751" y="16827679"/>
              <a:ext cx="2613216" cy="312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Formed mostly </a:t>
              </a:r>
              <a:r>
                <a:rPr lang="en-US" sz="1432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outside</a:t>
              </a:r>
              <a:r>
                <a:rPr lang="en-US" sz="143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iceline</a:t>
              </a:r>
            </a:p>
          </p:txBody>
        </p:sp>
        <p:grpSp>
          <p:nvGrpSpPr>
            <p:cNvPr id="1072" name="Group 1071">
              <a:extLst>
                <a:ext uri="{FF2B5EF4-FFF2-40B4-BE49-F238E27FC236}">
                  <a16:creationId xmlns:a16="http://schemas.microsoft.com/office/drawing/2014/main" id="{6C529C08-1D1B-B0C4-D4E5-DF3767D74AD5}"/>
                </a:ext>
              </a:extLst>
            </p:cNvPr>
            <p:cNvGrpSpPr/>
            <p:nvPr/>
          </p:nvGrpSpPr>
          <p:grpSpPr>
            <a:xfrm>
              <a:off x="3752663" y="16362868"/>
              <a:ext cx="1115303" cy="1115303"/>
              <a:chOff x="7357382" y="14718163"/>
              <a:chExt cx="1115303" cy="1115303"/>
            </a:xfrm>
          </p:grpSpPr>
          <p:sp>
            <p:nvSpPr>
              <p:cNvPr id="1073" name="Oval 1072">
                <a:extLst>
                  <a:ext uri="{FF2B5EF4-FFF2-40B4-BE49-F238E27FC236}">
                    <a16:creationId xmlns:a16="http://schemas.microsoft.com/office/drawing/2014/main" id="{CA1CDB17-A21D-F2CA-53BD-45AA8AE34410}"/>
                  </a:ext>
                </a:extLst>
              </p:cNvPr>
              <p:cNvSpPr/>
              <p:nvPr/>
            </p:nvSpPr>
            <p:spPr>
              <a:xfrm>
                <a:off x="7357382" y="14718163"/>
                <a:ext cx="1115303" cy="1115303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44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1B9FDC91-3843-73C9-5CDB-3F0887BDCF6E}"/>
                  </a:ext>
                </a:extLst>
              </p:cNvPr>
              <p:cNvSpPr/>
              <p:nvPr/>
            </p:nvSpPr>
            <p:spPr>
              <a:xfrm>
                <a:off x="7636207" y="14996989"/>
                <a:ext cx="557653" cy="557652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44"/>
              </a:p>
            </p:txBody>
          </p:sp>
        </p:grpSp>
        <p:grpSp>
          <p:nvGrpSpPr>
            <p:cNvPr id="1086" name="Group 1085">
              <a:extLst>
                <a:ext uri="{FF2B5EF4-FFF2-40B4-BE49-F238E27FC236}">
                  <a16:creationId xmlns:a16="http://schemas.microsoft.com/office/drawing/2014/main" id="{F680C6D6-5DE2-6135-1E08-789A3577D43B}"/>
                </a:ext>
              </a:extLst>
            </p:cNvPr>
            <p:cNvGrpSpPr/>
            <p:nvPr/>
          </p:nvGrpSpPr>
          <p:grpSpPr>
            <a:xfrm>
              <a:off x="6035758" y="16147559"/>
              <a:ext cx="1672956" cy="1672955"/>
              <a:chOff x="7107571" y="16228621"/>
              <a:chExt cx="1672956" cy="1672955"/>
            </a:xfrm>
          </p:grpSpPr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7AA8C9D3-04D0-1ED3-6580-B2A5B630AED5}"/>
                  </a:ext>
                </a:extLst>
              </p:cNvPr>
              <p:cNvSpPr/>
              <p:nvPr/>
            </p:nvSpPr>
            <p:spPr>
              <a:xfrm>
                <a:off x="7107571" y="16228621"/>
                <a:ext cx="1672956" cy="1672955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44"/>
              </a:p>
            </p:txBody>
          </p:sp>
          <p:grpSp>
            <p:nvGrpSpPr>
              <p:cNvPr id="1079" name="Group 1078">
                <a:extLst>
                  <a:ext uri="{FF2B5EF4-FFF2-40B4-BE49-F238E27FC236}">
                    <a16:creationId xmlns:a16="http://schemas.microsoft.com/office/drawing/2014/main" id="{55E5AF46-F1FB-5710-FAF3-F070A4DC9869}"/>
                  </a:ext>
                </a:extLst>
              </p:cNvPr>
              <p:cNvGrpSpPr/>
              <p:nvPr/>
            </p:nvGrpSpPr>
            <p:grpSpPr>
              <a:xfrm>
                <a:off x="7386397" y="16507447"/>
                <a:ext cx="1115303" cy="1115303"/>
                <a:chOff x="7357382" y="14718163"/>
                <a:chExt cx="1115303" cy="1115303"/>
              </a:xfrm>
            </p:grpSpPr>
            <p:sp>
              <p:nvSpPr>
                <p:cNvPr id="1081" name="Oval 1080">
                  <a:extLst>
                    <a:ext uri="{FF2B5EF4-FFF2-40B4-BE49-F238E27FC236}">
                      <a16:creationId xmlns:a16="http://schemas.microsoft.com/office/drawing/2014/main" id="{52274617-EB4F-6EE0-1754-1073E6C1DB84}"/>
                    </a:ext>
                  </a:extLst>
                </p:cNvPr>
                <p:cNvSpPr/>
                <p:nvPr/>
              </p:nvSpPr>
              <p:spPr>
                <a:xfrm>
                  <a:off x="7357382" y="14718163"/>
                  <a:ext cx="1115303" cy="1115303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44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084" name="Oval 1083">
                  <a:extLst>
                    <a:ext uri="{FF2B5EF4-FFF2-40B4-BE49-F238E27FC236}">
                      <a16:creationId xmlns:a16="http://schemas.microsoft.com/office/drawing/2014/main" id="{28241F99-5FBE-E680-B0B7-430853FC07CC}"/>
                    </a:ext>
                  </a:extLst>
                </p:cNvPr>
                <p:cNvSpPr/>
                <p:nvPr/>
              </p:nvSpPr>
              <p:spPr>
                <a:xfrm>
                  <a:off x="7636207" y="14996989"/>
                  <a:ext cx="557653" cy="557652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44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2117</TotalTime>
  <Words>3444</Words>
  <Application>Microsoft Office PowerPoint</Application>
  <PresentationFormat>Custom</PresentationFormat>
  <Paragraphs>107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Merriweather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Bennett Skinner</cp:lastModifiedBy>
  <cp:revision>19</cp:revision>
  <dcterms:created xsi:type="dcterms:W3CDTF">2025-05-01T17:51:20Z</dcterms:created>
  <dcterms:modified xsi:type="dcterms:W3CDTF">2026-07-14T19:59:54Z</dcterms:modified>
</cp:coreProperties>
</file>